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cb96c55fd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cb96c55f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c7dab3595b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c7dab3595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8" name="Google Shape;4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Seguramente ya lo hicieron</a:t>
            </a:r>
            <a:endParaRPr/>
          </a:p>
        </p:txBody>
      </p:sp>
      <p:sp>
        <p:nvSpPr>
          <p:cNvPr id="472" name="Google Shape;4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7" name="Google Shape;5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5" name="Google Shape;5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3" name="Google Shape;5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En esta carpeta van a estar las clases ( se las voy a pedir a todos los docentes 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También van a encontrar material complementario. Pdfs, videos, links varios, etc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4" name="Google Shape;6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Nunca un tratado puede ser la bibliografía adecuada para una cursada de 6 semanas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cb96c55fd3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cb96c55fd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prefinal es obligatorio, ya que hay que mandarlo a la facultad. Haremos una revision para repasar temas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final lo prepara la facultad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ce663147d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ce663147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Si tienen alguna duda pregunten !!!!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1e89a835413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1e89a83541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1e89a835413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1e89a835413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1e89a835413_2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1e89a835413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1e89a835413_2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1e89a835413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1e89a835413_2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1e89a835413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1e89a835413_2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1e89a835413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1e89a835413_2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1e89a835413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1e89a835413_2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1e89a835413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1e89a835413_2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1e89a835413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1e89a835413_2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1e89a835413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1e89a835413_2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1e89a835413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1e89a835413_2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1e89a835413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e89a835413_2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1e89a835413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1e89a835413_2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1e89a835413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1e89a835413_2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1e89a835413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3" name="Google Shape;13;p2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32;p2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3" name="Google Shape;33;p2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2"/>
          <p:cNvSpPr txBox="1"/>
          <p:nvPr>
            <p:ph type="ctrTitle"/>
          </p:nvPr>
        </p:nvSpPr>
        <p:spPr>
          <a:xfrm>
            <a:off x="1759236" y="2075504"/>
            <a:ext cx="8679915" cy="17487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5400"/>
              <a:buFont typeface="Calibri"/>
              <a:buNone/>
              <a:defRPr sz="5400"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" type="subTitle"/>
          </p:nvPr>
        </p:nvSpPr>
        <p:spPr>
          <a:xfrm>
            <a:off x="1759237" y="3906266"/>
            <a:ext cx="8673427" cy="132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  <a:defRPr b="0" sz="1800">
                <a:solidFill>
                  <a:srgbClr val="FFFEF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9pPr>
          </a:lstStyle>
          <a:p/>
        </p:txBody>
      </p:sp>
      <p:sp>
        <p:nvSpPr>
          <p:cNvPr id="38" name="Google Shape;38;p2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3" name="Google Shape;43;p3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" name="Google Shape;64;p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5" name="Google Shape;65;p3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3"/>
          <p:cNvSpPr txBox="1"/>
          <p:nvPr>
            <p:ph type="title"/>
          </p:nvPr>
        </p:nvSpPr>
        <p:spPr>
          <a:xfrm>
            <a:off x="888631" y="2349925"/>
            <a:ext cx="3498979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5118447" y="803186"/>
            <a:ext cx="6281873" cy="5248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70" name="Google Shape;70;p3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5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9" name="Google Shape;79;p5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" name="Google Shape;98;p5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Google Shape;99;p5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5"/>
          <p:cNvSpPr txBox="1"/>
          <p:nvPr>
            <p:ph type="title"/>
          </p:nvPr>
        </p:nvSpPr>
        <p:spPr>
          <a:xfrm>
            <a:off x="3344216" y="2074730"/>
            <a:ext cx="5490224" cy="16893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400"/>
              <a:buFont typeface="Calibri"/>
              <a:buNone/>
              <a:defRPr sz="4400"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"/>
          <p:cNvSpPr txBox="1"/>
          <p:nvPr>
            <p:ph idx="1" type="body"/>
          </p:nvPr>
        </p:nvSpPr>
        <p:spPr>
          <a:xfrm>
            <a:off x="3344215" y="3846851"/>
            <a:ext cx="5490223" cy="1383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FFFE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5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09" name="Google Shape;109;p6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131" name="Google Shape;131;p6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6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6"/>
          <p:cNvSpPr txBox="1"/>
          <p:nvPr>
            <p:ph type="title"/>
          </p:nvPr>
        </p:nvSpPr>
        <p:spPr>
          <a:xfrm>
            <a:off x="889000" y="2339669"/>
            <a:ext cx="3500828" cy="2470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5120878" y="803187"/>
            <a:ext cx="6269591" cy="2382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136" name="Google Shape;136;p6"/>
          <p:cNvSpPr txBox="1"/>
          <p:nvPr>
            <p:ph idx="2" type="body"/>
          </p:nvPr>
        </p:nvSpPr>
        <p:spPr>
          <a:xfrm>
            <a:off x="5118447" y="3672162"/>
            <a:ext cx="6272022" cy="2383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137" name="Google Shape;137;p6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7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42" name="Google Shape;142;p7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163;p7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164" name="Google Shape;164;p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7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7"/>
          <p:cNvSpPr txBox="1"/>
          <p:nvPr>
            <p:ph type="title"/>
          </p:nvPr>
        </p:nvSpPr>
        <p:spPr>
          <a:xfrm>
            <a:off x="889001" y="2363915"/>
            <a:ext cx="3500828" cy="246049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7"/>
          <p:cNvSpPr txBox="1"/>
          <p:nvPr>
            <p:ph idx="1" type="body"/>
          </p:nvPr>
        </p:nvSpPr>
        <p:spPr>
          <a:xfrm>
            <a:off x="5125137" y="803185"/>
            <a:ext cx="6265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2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9pPr>
          </a:lstStyle>
          <a:p/>
        </p:txBody>
      </p:sp>
      <p:sp>
        <p:nvSpPr>
          <p:cNvPr id="169" name="Google Shape;169;p7"/>
          <p:cNvSpPr txBox="1"/>
          <p:nvPr>
            <p:ph idx="2" type="body"/>
          </p:nvPr>
        </p:nvSpPr>
        <p:spPr>
          <a:xfrm>
            <a:off x="5125305" y="1488985"/>
            <a:ext cx="6264350" cy="1696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170" name="Google Shape;170;p7"/>
          <p:cNvSpPr txBox="1"/>
          <p:nvPr>
            <p:ph idx="3" type="body"/>
          </p:nvPr>
        </p:nvSpPr>
        <p:spPr>
          <a:xfrm>
            <a:off x="5118653" y="3665887"/>
            <a:ext cx="626441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2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9pPr>
          </a:lstStyle>
          <a:p/>
        </p:txBody>
      </p:sp>
      <p:sp>
        <p:nvSpPr>
          <p:cNvPr id="171" name="Google Shape;171;p7"/>
          <p:cNvSpPr txBox="1"/>
          <p:nvPr>
            <p:ph idx="4" type="body"/>
          </p:nvPr>
        </p:nvSpPr>
        <p:spPr>
          <a:xfrm>
            <a:off x="5118447" y="4351687"/>
            <a:ext cx="6265588" cy="170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172" name="Google Shape;172;p7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7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7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77" name="Google Shape;177;p8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199" name="Google Shape;199;p8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8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2" name="Google Shape;202;p8"/>
          <p:cNvSpPr txBox="1"/>
          <p:nvPr>
            <p:ph type="title"/>
          </p:nvPr>
        </p:nvSpPr>
        <p:spPr>
          <a:xfrm>
            <a:off x="888632" y="2349925"/>
            <a:ext cx="3501196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8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8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8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208" name="Google Shape;208;p9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9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9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9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9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9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9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0" name="Google Shape;230;p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p9"/>
          <p:cNvSpPr txBox="1"/>
          <p:nvPr>
            <p:ph type="title"/>
          </p:nvPr>
        </p:nvSpPr>
        <p:spPr>
          <a:xfrm>
            <a:off x="888631" y="2352026"/>
            <a:ext cx="3501197" cy="12232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3200"/>
              <a:buFont typeface="Calibri"/>
              <a:buNone/>
              <a:defRPr sz="3200"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9"/>
          <p:cNvSpPr txBox="1"/>
          <p:nvPr>
            <p:ph idx="1" type="body"/>
          </p:nvPr>
        </p:nvSpPr>
        <p:spPr>
          <a:xfrm>
            <a:off x="5109983" y="802809"/>
            <a:ext cx="6275035" cy="5249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235" name="Google Shape;235;p9"/>
          <p:cNvSpPr txBox="1"/>
          <p:nvPr>
            <p:ph idx="2" type="body"/>
          </p:nvPr>
        </p:nvSpPr>
        <p:spPr>
          <a:xfrm>
            <a:off x="888631" y="3580186"/>
            <a:ext cx="3501197" cy="1221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FFFE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4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2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9pPr>
          </a:lstStyle>
          <a:p/>
        </p:txBody>
      </p:sp>
      <p:sp>
        <p:nvSpPr>
          <p:cNvPr id="236" name="Google Shape;236;p9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9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9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10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241" name="Google Shape;241;p10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0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0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0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0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0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0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0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0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10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261" name="Google Shape;261;p10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0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0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" name="Google Shape;264;p10"/>
          <p:cNvSpPr/>
          <p:nvPr>
            <p:ph idx="2" type="pic"/>
          </p:nvPr>
        </p:nvSpPr>
        <p:spPr>
          <a:xfrm>
            <a:off x="7543510" y="0"/>
            <a:ext cx="4648490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308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64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265" name="Google Shape;265;p10"/>
          <p:cNvSpPr txBox="1"/>
          <p:nvPr>
            <p:ph type="title"/>
          </p:nvPr>
        </p:nvSpPr>
        <p:spPr>
          <a:xfrm>
            <a:off x="885443" y="2360255"/>
            <a:ext cx="5776646" cy="11780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3600"/>
              <a:buFont typeface="Calibri"/>
              <a:buNone/>
              <a:defRPr sz="3600"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10"/>
          <p:cNvSpPr txBox="1"/>
          <p:nvPr>
            <p:ph idx="1" type="body"/>
          </p:nvPr>
        </p:nvSpPr>
        <p:spPr>
          <a:xfrm>
            <a:off x="885443" y="3545012"/>
            <a:ext cx="5776646" cy="1274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FFFE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4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2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9pPr>
          </a:lstStyle>
          <a:p/>
        </p:txBody>
      </p:sp>
      <p:sp>
        <p:nvSpPr>
          <p:cNvPr id="267" name="Google Shape;267;p10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10"/>
          <p:cNvSpPr txBox="1"/>
          <p:nvPr>
            <p:ph idx="11" type="ftr"/>
          </p:nvPr>
        </p:nvSpPr>
        <p:spPr>
          <a:xfrm>
            <a:off x="804672" y="6227064"/>
            <a:ext cx="594220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10"/>
          <p:cNvSpPr txBox="1"/>
          <p:nvPr>
            <p:ph idx="12" type="sldNum"/>
          </p:nvPr>
        </p:nvSpPr>
        <p:spPr>
          <a:xfrm>
            <a:off x="5828377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11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272" name="Google Shape;272;p11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1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1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1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1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1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1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1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1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1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1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" name="Google Shape;293;p1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94" name="Google Shape;294;p1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7" name="Google Shape;297;p11"/>
          <p:cNvSpPr txBox="1"/>
          <p:nvPr>
            <p:ph type="title"/>
          </p:nvPr>
        </p:nvSpPr>
        <p:spPr>
          <a:xfrm>
            <a:off x="888632" y="2349925"/>
            <a:ext cx="3501196" cy="2456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11"/>
          <p:cNvSpPr txBox="1"/>
          <p:nvPr>
            <p:ph idx="1" type="body"/>
          </p:nvPr>
        </p:nvSpPr>
        <p:spPr>
          <a:xfrm rot="5400000">
            <a:off x="5618955" y="285746"/>
            <a:ext cx="5257090" cy="62750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299" name="Google Shape;299;p11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11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11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12"/>
          <p:cNvGrpSpPr/>
          <p:nvPr/>
        </p:nvGrpSpPr>
        <p:grpSpPr>
          <a:xfrm flipH="1">
            <a:off x="-1" y="0"/>
            <a:ext cx="12584114" cy="6853238"/>
            <a:chOff x="-417513" y="0"/>
            <a:chExt cx="12584114" cy="6853238"/>
          </a:xfrm>
        </p:grpSpPr>
        <p:sp>
          <p:nvSpPr>
            <p:cNvPr id="304" name="Google Shape;304;p12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2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2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2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2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2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2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2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2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2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2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2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2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2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2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2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2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2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2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2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2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5" name="Google Shape;325;p12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326" name="Google Shape;326;p1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9" name="Google Shape;329;p12"/>
          <p:cNvSpPr txBox="1"/>
          <p:nvPr>
            <p:ph type="title"/>
          </p:nvPr>
        </p:nvSpPr>
        <p:spPr>
          <a:xfrm rot="5400000">
            <a:off x="8329814" y="1827548"/>
            <a:ext cx="2456442" cy="3501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12"/>
          <p:cNvSpPr txBox="1"/>
          <p:nvPr>
            <p:ph idx="1" type="body"/>
          </p:nvPr>
        </p:nvSpPr>
        <p:spPr>
          <a:xfrm rot="5400000">
            <a:off x="1308406" y="292784"/>
            <a:ext cx="5257303" cy="6268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331" name="Google Shape;331;p12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12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12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1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42" name="Google Shape;342;p14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3" name="Google Shape;363;p14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364" name="Google Shape;364;p1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7" name="Google Shape;367;p14"/>
          <p:cNvSpPr txBox="1"/>
          <p:nvPr>
            <p:ph type="title"/>
          </p:nvPr>
        </p:nvSpPr>
        <p:spPr>
          <a:xfrm>
            <a:off x="888631" y="2349925"/>
            <a:ext cx="3498979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14"/>
          <p:cNvSpPr txBox="1"/>
          <p:nvPr>
            <p:ph idx="1" type="body"/>
          </p:nvPr>
        </p:nvSpPr>
        <p:spPr>
          <a:xfrm>
            <a:off x="5118447" y="803186"/>
            <a:ext cx="6281873" cy="5248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369" name="Google Shape;369;p14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14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14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4036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2639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242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242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242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242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242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242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"/>
          <p:cNvSpPr txBox="1"/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6" name="Google Shape;336;p13"/>
          <p:cNvSpPr txBox="1"/>
          <p:nvPr>
            <p:ph idx="1" type="body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4036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▪"/>
              <a:defRPr b="0" i="0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2639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▪"/>
              <a:defRPr b="0" i="0" sz="14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242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242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242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242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242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242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337" name="Google Shape;337;p13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338" name="Google Shape;338;p13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339" name="Google Shape;339;p13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ampus.cienciasmedicas.uba.ar/course/view.php?id=701" TargetMode="External"/><Relationship Id="rId4" Type="http://schemas.openxmlformats.org/officeDocument/2006/relationships/hyperlink" Target="https://classroom.google.com/c/NDg4MDE3ODM3NDY3?cjc=bs6utt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fmed.uba.ar/departamentos_y_catedras/departamento-de-pediatria/informacion-general" TargetMode="External"/><Relationship Id="rId4" Type="http://schemas.openxmlformats.org/officeDocument/2006/relationships/hyperlink" Target="https://www.sap.org.ar/" TargetMode="External"/><Relationship Id="rId9" Type="http://schemas.openxmlformats.org/officeDocument/2006/relationships/hyperlink" Target="http://revistapediatria.com.ar/" TargetMode="External"/><Relationship Id="rId5" Type="http://schemas.openxmlformats.org/officeDocument/2006/relationships/hyperlink" Target="https://www.sap.org.ar/consensos.php" TargetMode="External"/><Relationship Id="rId6" Type="http://schemas.openxmlformats.org/officeDocument/2006/relationships/hyperlink" Target="https://www.aeped.es/" TargetMode="External"/><Relationship Id="rId7" Type="http://schemas.openxmlformats.org/officeDocument/2006/relationships/hyperlink" Target="https://www.argentina.gob.ar/salud" TargetMode="External"/><Relationship Id="rId8" Type="http://schemas.openxmlformats.org/officeDocument/2006/relationships/hyperlink" Target="https://www.garrahan.gov.ar/guias-de-atencion-pediatrica/guias-de-atencion-pediatrica/guias-de-atencion-pediatrica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"/>
          <p:cNvSpPr txBox="1"/>
          <p:nvPr>
            <p:ph type="ctrTitle"/>
          </p:nvPr>
        </p:nvSpPr>
        <p:spPr>
          <a:xfrm>
            <a:off x="1759236" y="2075504"/>
            <a:ext cx="8679915" cy="17487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5400"/>
              <a:buFont typeface="Calibri"/>
              <a:buNone/>
            </a:pPr>
            <a:r>
              <a:rPr lang="en-US"/>
              <a:t>Hospital Ramón Carrillo</a:t>
            </a:r>
            <a:endParaRPr/>
          </a:p>
        </p:txBody>
      </p:sp>
      <p:sp>
        <p:nvSpPr>
          <p:cNvPr id="377" name="Google Shape;377;p15"/>
          <p:cNvSpPr txBox="1"/>
          <p:nvPr>
            <p:ph idx="1" type="subTitle"/>
          </p:nvPr>
        </p:nvSpPr>
        <p:spPr>
          <a:xfrm>
            <a:off x="1759237" y="3906266"/>
            <a:ext cx="8673427" cy="132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en-US"/>
              <a:t>Ciudadela - Pcia. de Buenos Aires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6"/>
          <p:cNvSpPr/>
          <p:nvPr/>
        </p:nvSpPr>
        <p:spPr>
          <a:xfrm>
            <a:off x="124025" y="-124025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383" name="Google Shape;383;p1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384" name="Google Shape;384;p16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1451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6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17255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386" name="Google Shape;386;p16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6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10588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6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6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745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6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6275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6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745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6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549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549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accent1">
                  <a:alpha val="4314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accent1">
                  <a:alpha val="4314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3529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35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4314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3529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3529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3529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accent1">
                  <a:alpha val="235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3" name="Google Shape;403;p16"/>
          <p:cNvSpPr txBox="1"/>
          <p:nvPr>
            <p:ph type="ctrTitle"/>
          </p:nvPr>
        </p:nvSpPr>
        <p:spPr>
          <a:xfrm>
            <a:off x="1907978" y="156347"/>
            <a:ext cx="8247189" cy="156232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en-US" sz="7200">
                <a:solidFill>
                  <a:schemeClr val="accent1"/>
                </a:solidFill>
              </a:rPr>
              <a:t>Características de la cursada</a:t>
            </a:r>
            <a:endParaRPr/>
          </a:p>
        </p:txBody>
      </p:sp>
      <p:sp>
        <p:nvSpPr>
          <p:cNvPr id="404" name="Google Shape;404;p16"/>
          <p:cNvSpPr txBox="1"/>
          <p:nvPr/>
        </p:nvSpPr>
        <p:spPr>
          <a:xfrm>
            <a:off x="1723800" y="1872625"/>
            <a:ext cx="9573900" cy="5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Char char="●"/>
            </a:pPr>
            <a:r>
              <a:rPr lang="en-US" sz="20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Duración: 10 semanas - desde el 3 de Agosto  hasta el 10  de Octubre</a:t>
            </a:r>
            <a:endParaRPr sz="20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Char char="●"/>
            </a:pPr>
            <a:r>
              <a:rPr lang="en-US" sz="20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Asistencia de Lunes a Viernes en el hospital Ramón Carrillo.</a:t>
            </a:r>
            <a:endParaRPr sz="20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Char char="●"/>
            </a:pPr>
            <a:r>
              <a:rPr lang="en-US" sz="20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Los teóricos se dictarán en el sector de docencia y las actividades prácticas en distintos sectores del servicio ( consultorios, sala de internación, sala de Neonatología ). Estas actividades son de carácter obligatorio</a:t>
            </a:r>
            <a:endParaRPr sz="20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Char char="●"/>
            </a:pPr>
            <a:r>
              <a:rPr lang="en-US" sz="20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 publicará material complementario ( artículos, normas o consensos) que estará disponible para usar en cualquier momento.</a:t>
            </a:r>
            <a:endParaRPr sz="20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Char char="●"/>
            </a:pPr>
            <a:r>
              <a:rPr lang="en-US" sz="20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 realizará en forma asincrónica la actividad en el campus virtual</a:t>
            </a:r>
            <a:endParaRPr sz="20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Todas las modificaciones se notificarán por Classroom.</a:t>
            </a:r>
            <a:endParaRPr b="0" i="0" sz="20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7"/>
          <p:cNvSpPr txBox="1"/>
          <p:nvPr>
            <p:ph type="ctrTitle"/>
          </p:nvPr>
        </p:nvSpPr>
        <p:spPr>
          <a:xfrm>
            <a:off x="1599200" y="1874525"/>
            <a:ext cx="8679900" cy="4137300"/>
          </a:xfrm>
          <a:prstGeom prst="rect">
            <a:avLst/>
          </a:prstGeom>
        </p:spPr>
        <p:txBody>
          <a:bodyPr anchorCtr="0" anchor="b" bIns="0" lIns="228600" spcFirstLastPara="1" rIns="228600" wrap="square" tIns="2286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Uso del campus virtual </a:t>
            </a:r>
            <a:r>
              <a:rPr lang="en-US" sz="2000" u="sng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sz="200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Link de acceso a Classroom 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u="sng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Classroom</a:t>
            </a:r>
            <a:endParaRPr sz="20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Código de acceso: </a:t>
            </a:r>
            <a:endParaRPr sz="20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jhhmnngm</a:t>
            </a:r>
            <a:endParaRPr sz="20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5822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8"/>
          <p:cNvSpPr/>
          <p:nvPr/>
        </p:nvSpPr>
        <p:spPr>
          <a:xfrm>
            <a:off x="-226500" y="2325025"/>
            <a:ext cx="2796000" cy="2059200"/>
          </a:xfrm>
          <a:prstGeom prst="ellipse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" name="Google Shape;420;p19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421" name="Google Shape;421;p19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9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9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9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9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9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9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9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9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9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9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9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9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9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9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9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9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9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0" name="Google Shape;440;p19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441" name="Google Shape;441;p19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4" name="Google Shape;444;p19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445" name="Google Shape;445;p19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446" name="Google Shape;446;p19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1647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9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9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17255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9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1451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9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1451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1333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12549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12549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11373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11373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11373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lt1">
                  <a:alpha val="11373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1137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1137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10588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10588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9412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9412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9412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5" name="Google Shape;465;p19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466" name="Google Shape;466;p19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9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9" name="Google Shape;469;p19"/>
          <p:cNvSpPr txBox="1"/>
          <p:nvPr>
            <p:ph type="title"/>
          </p:nvPr>
        </p:nvSpPr>
        <p:spPr>
          <a:xfrm>
            <a:off x="1759236" y="2521202"/>
            <a:ext cx="8679915" cy="2208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28600" spcFirstLastPara="1" rIns="228600" wrap="square" tIns="228600">
            <a:normAutofit fontScale="9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ct val="100000"/>
              <a:buFont typeface="Calibri"/>
              <a:buNone/>
            </a:pPr>
            <a:r>
              <a:rPr lang="en-US" sz="3800"/>
              <a:t>Todas las notificaciones (cambios de horario, exámenes, etc )</a:t>
            </a:r>
            <a:br>
              <a:rPr lang="en-US"/>
            </a:br>
            <a:r>
              <a:rPr lang="en-US" sz="3800"/>
              <a:t>se harán por Google Classroom</a:t>
            </a:r>
            <a:br>
              <a:rPr lang="en-US" sz="3800"/>
            </a:br>
            <a:r>
              <a:rPr lang="en-US" sz="3800"/>
              <a:t> ( a ustedes les puede llegar por la aplicación si la tienen instalada o por mail ).</a:t>
            </a:r>
            <a:endParaRPr sz="3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20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475" name="Google Shape;475;p20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0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4" name="Google Shape;494;p20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495" name="Google Shape;495;p20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0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" name="Google Shape;498;p20"/>
          <p:cNvSpPr/>
          <p:nvPr/>
        </p:nvSpPr>
        <p:spPr>
          <a:xfrm>
            <a:off x="0" y="0"/>
            <a:ext cx="1219169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499" name="Google Shape;499;p20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500" name="Google Shape;500;p20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01" name="Google Shape;501;p20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02" name="Google Shape;502;p20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03" name="Google Shape;503;p20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04" name="Google Shape;504;p20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05" name="Google Shape;505;p20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06" name="Google Shape;506;p20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07" name="Google Shape;507;p20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08" name="Google Shape;508;p20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09" name="Google Shape;509;p20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10" name="Google Shape;510;p20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11" name="Google Shape;511;p20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12" name="Google Shape;512;p20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13" name="Google Shape;513;p20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14" name="Google Shape;514;p20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15" name="Google Shape;515;p20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16" name="Google Shape;516;p20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17" name="Google Shape;517;p20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18" name="Google Shape;518;p20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pic>
        <p:nvPicPr>
          <p:cNvPr descr="Biblioteca pública desenfocada abstracta con estanterías" id="519" name="Google Shape;519;p20"/>
          <p:cNvPicPr preferRelativeResize="0"/>
          <p:nvPr/>
        </p:nvPicPr>
        <p:blipFill rotWithShape="1">
          <a:blip r:embed="rId3">
            <a:alphaModFix/>
          </a:blip>
          <a:srcRect b="6" l="6214" r="28140" t="0"/>
          <a:stretch/>
        </p:blipFill>
        <p:spPr>
          <a:xfrm>
            <a:off x="20" y="10"/>
            <a:ext cx="6745008" cy="68577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0" name="Google Shape;520;p20"/>
          <p:cNvGrpSpPr/>
          <p:nvPr/>
        </p:nvGrpSpPr>
        <p:grpSpPr>
          <a:xfrm>
            <a:off x="7562312" y="1186483"/>
            <a:ext cx="3822597" cy="4477933"/>
            <a:chOff x="807084" y="1186483"/>
            <a:chExt cx="3822597" cy="4477933"/>
          </a:xfrm>
        </p:grpSpPr>
        <p:sp>
          <p:nvSpPr>
            <p:cNvPr id="521" name="Google Shape;521;p20"/>
            <p:cNvSpPr/>
            <p:nvPr/>
          </p:nvSpPr>
          <p:spPr>
            <a:xfrm>
              <a:off x="807531" y="1186483"/>
              <a:ext cx="3821702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22" name="Google Shape;522;p20"/>
            <p:cNvSpPr/>
            <p:nvPr/>
          </p:nvSpPr>
          <p:spPr>
            <a:xfrm rot="10800000">
              <a:off x="2514766" y="5313353"/>
              <a:ext cx="407233" cy="35106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23" name="Google Shape;523;p20"/>
            <p:cNvSpPr/>
            <p:nvPr/>
          </p:nvSpPr>
          <p:spPr>
            <a:xfrm>
              <a:off x="807084" y="1991156"/>
              <a:ext cx="382259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524" name="Google Shape;524;p20"/>
          <p:cNvSpPr txBox="1"/>
          <p:nvPr>
            <p:ph type="title"/>
          </p:nvPr>
        </p:nvSpPr>
        <p:spPr>
          <a:xfrm>
            <a:off x="7650643" y="2075504"/>
            <a:ext cx="3654569" cy="2042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600"/>
              <a:buFont typeface="Calibri"/>
              <a:buNone/>
            </a:pPr>
            <a:r>
              <a:rPr lang="en-US" sz="4600"/>
              <a:t>Uso de Google Classroom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21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530" name="Google Shape;530;p21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21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1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21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21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21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1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1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1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21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21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21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21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21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1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21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1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21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1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21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1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1" name="Google Shape;551;p21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rgbClr val="FFB12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ctr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descr="Interfaz de usuario gráfica, Aplicación&#10;&#10;Descripción generada automáticamente" id="552" name="Google Shape;552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9179" l="0" r="1" t="0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22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558" name="Google Shape;558;p22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22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2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2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22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2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2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2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9" name="Google Shape;579;p22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rgbClr val="FF7F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ctr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descr="Interfaz de usuario gráfica, Texto, Aplicación&#10;&#10;Descripción generada automáticamente" id="580" name="Google Shape;580;p22"/>
          <p:cNvPicPr preferRelativeResize="0"/>
          <p:nvPr/>
        </p:nvPicPr>
        <p:blipFill rotWithShape="1">
          <a:blip r:embed="rId3">
            <a:alphaModFix/>
          </a:blip>
          <a:srcRect b="9179" l="0" r="1" t="0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2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586" name="Google Shape;586;p23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23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23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23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7" name="Google Shape;607;p23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rgbClr val="FFC88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ctr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descr="Interfaz de usuario gráfica, Texto, Aplicación&#10;&#10;Descripción generada automáticamente" id="608" name="Google Shape;608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9179" l="0" r="1" t="0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9" name="Google Shape;609;p23"/>
          <p:cNvGrpSpPr/>
          <p:nvPr/>
        </p:nvGrpSpPr>
        <p:grpSpPr>
          <a:xfrm>
            <a:off x="4644225" y="1331350"/>
            <a:ext cx="5495675" cy="340500"/>
            <a:chOff x="4644225" y="1331350"/>
            <a:chExt cx="5495675" cy="340500"/>
          </a:xfrm>
        </p:grpSpPr>
        <p:sp>
          <p:nvSpPr>
            <p:cNvPr id="610" name="Google Shape;610;p23"/>
            <p:cNvSpPr/>
            <p:nvPr/>
          </p:nvSpPr>
          <p:spPr>
            <a:xfrm>
              <a:off x="9288500" y="1331350"/>
              <a:ext cx="851400" cy="3405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4644225" y="1354600"/>
              <a:ext cx="851400" cy="294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6" name="Google Shape;616;p2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617" name="Google Shape;617;p24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4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24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24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24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4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24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24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4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4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4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24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24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24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24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24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Interfaz de usuario gráfica, Aplicación&#10;&#10;Descripción generada automáticamente" id="638" name="Google Shape;638;p24"/>
          <p:cNvPicPr preferRelativeResize="0"/>
          <p:nvPr/>
        </p:nvPicPr>
        <p:blipFill rotWithShape="1">
          <a:blip r:embed="rId3">
            <a:alphaModFix/>
          </a:blip>
          <a:srcRect b="9179" l="0" r="1" t="0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5"/>
          <p:cNvSpPr txBox="1"/>
          <p:nvPr>
            <p:ph type="ctrTitle"/>
          </p:nvPr>
        </p:nvSpPr>
        <p:spPr>
          <a:xfrm>
            <a:off x="1759236" y="2075504"/>
            <a:ext cx="8679900" cy="17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Bibliografía</a:t>
            </a:r>
            <a:endParaRPr/>
          </a:p>
        </p:txBody>
      </p:sp>
      <p:sp>
        <p:nvSpPr>
          <p:cNvPr id="644" name="Google Shape;644;p25"/>
          <p:cNvSpPr txBox="1"/>
          <p:nvPr>
            <p:ph idx="1" type="subTitle"/>
          </p:nvPr>
        </p:nvSpPr>
        <p:spPr>
          <a:xfrm>
            <a:off x="1759237" y="3906266"/>
            <a:ext cx="8673300" cy="13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11655822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26"/>
          <p:cNvSpPr/>
          <p:nvPr/>
        </p:nvSpPr>
        <p:spPr>
          <a:xfrm>
            <a:off x="973325" y="4387650"/>
            <a:ext cx="4340400" cy="12510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7"/>
          <p:cNvSpPr txBox="1"/>
          <p:nvPr>
            <p:ph type="title"/>
          </p:nvPr>
        </p:nvSpPr>
        <p:spPr>
          <a:xfrm>
            <a:off x="888631" y="2349925"/>
            <a:ext cx="3498900" cy="2456400"/>
          </a:xfrm>
          <a:prstGeom prst="rect">
            <a:avLst/>
          </a:prstGeom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Exámen</a:t>
            </a:r>
            <a:endParaRPr/>
          </a:p>
        </p:txBody>
      </p:sp>
      <p:sp>
        <p:nvSpPr>
          <p:cNvPr id="656" name="Google Shape;656;p27"/>
          <p:cNvSpPr txBox="1"/>
          <p:nvPr>
            <p:ph idx="1" type="body"/>
          </p:nvPr>
        </p:nvSpPr>
        <p:spPr>
          <a:xfrm>
            <a:off x="5118447" y="803186"/>
            <a:ext cx="6282000" cy="524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/>
              <a:t>Pre final </a:t>
            </a:r>
            <a:endParaRPr sz="2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/>
              <a:t>Final </a:t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50" y="0"/>
            <a:ext cx="8572500" cy="58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9"/>
          <p:cNvSpPr txBox="1"/>
          <p:nvPr>
            <p:ph type="title"/>
          </p:nvPr>
        </p:nvSpPr>
        <p:spPr>
          <a:xfrm>
            <a:off x="888631" y="2349925"/>
            <a:ext cx="3498900" cy="24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Links de interés</a:t>
            </a:r>
            <a:endParaRPr/>
          </a:p>
        </p:txBody>
      </p:sp>
      <p:sp>
        <p:nvSpPr>
          <p:cNvPr id="667" name="Google Shape;667;p29"/>
          <p:cNvSpPr txBox="1"/>
          <p:nvPr>
            <p:ph idx="1" type="body"/>
          </p:nvPr>
        </p:nvSpPr>
        <p:spPr>
          <a:xfrm>
            <a:off x="4711225" y="402600"/>
            <a:ext cx="72441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Cátedra de Pediatría </a:t>
            </a:r>
            <a:r>
              <a:rPr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Link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Sociedad Argentina de Pediatría </a:t>
            </a:r>
            <a:r>
              <a:rPr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https://www.sap.org.ar/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SAP Consensos </a:t>
            </a:r>
            <a:r>
              <a:rPr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https://www.sap.org.ar/consensos.php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Asociación Española de Pediatría    </a:t>
            </a:r>
            <a:r>
              <a:rPr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https://www.aeped.es/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Ministerio de Salud de la Nación </a:t>
            </a:r>
            <a:r>
              <a:rPr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Link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Guías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del Garrahan </a:t>
            </a:r>
            <a:r>
              <a:rPr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Link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Revista del Hospital Gutierrez  </a:t>
            </a:r>
            <a:r>
              <a:rPr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Link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0"/>
          <p:cNvSpPr txBox="1"/>
          <p:nvPr>
            <p:ph type="title"/>
          </p:nvPr>
        </p:nvSpPr>
        <p:spPr>
          <a:xfrm>
            <a:off x="888631" y="2349925"/>
            <a:ext cx="3498900" cy="2456400"/>
          </a:xfrm>
          <a:prstGeom prst="rect">
            <a:avLst/>
          </a:prstGeom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Descanso !!!</a:t>
            </a:r>
            <a:endParaRPr/>
          </a:p>
        </p:txBody>
      </p:sp>
      <p:sp>
        <p:nvSpPr>
          <p:cNvPr id="673" name="Google Shape;673;p30"/>
          <p:cNvSpPr txBox="1"/>
          <p:nvPr>
            <p:ph idx="1" type="body"/>
          </p:nvPr>
        </p:nvSpPr>
        <p:spPr>
          <a:xfrm>
            <a:off x="5118447" y="803186"/>
            <a:ext cx="6282000" cy="524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1"/>
          <p:cNvSpPr txBox="1"/>
          <p:nvPr>
            <p:ph type="title"/>
          </p:nvPr>
        </p:nvSpPr>
        <p:spPr>
          <a:xfrm>
            <a:off x="888631" y="2349925"/>
            <a:ext cx="3498900" cy="2456400"/>
          </a:xfrm>
          <a:prstGeom prst="rect">
            <a:avLst/>
          </a:prstGeom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 significa Pediatría ?</a:t>
            </a:r>
            <a:endParaRPr/>
          </a:p>
        </p:txBody>
      </p:sp>
      <p:sp>
        <p:nvSpPr>
          <p:cNvPr id="679" name="Google Shape;679;p31"/>
          <p:cNvSpPr txBox="1"/>
          <p:nvPr>
            <p:ph idx="1" type="body"/>
          </p:nvPr>
        </p:nvSpPr>
        <p:spPr>
          <a:xfrm>
            <a:off x="5118447" y="803186"/>
            <a:ext cx="6282000" cy="524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chemeClr val="accent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Rama de la medicina que se ocupa del estudio del crecimiento y el desarrollo de los niños desde el nacimiento hasta el fin de la adolescencia, así como del tratamiento de sus enfermedades.</a:t>
            </a:r>
            <a:endParaRPr sz="3400">
              <a:solidFill>
                <a:schemeClr val="accent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2"/>
          <p:cNvSpPr txBox="1"/>
          <p:nvPr>
            <p:ph type="title"/>
          </p:nvPr>
        </p:nvSpPr>
        <p:spPr>
          <a:xfrm>
            <a:off x="3344216" y="2074730"/>
            <a:ext cx="5490300" cy="1689300"/>
          </a:xfrm>
          <a:prstGeom prst="rect">
            <a:avLst/>
          </a:prstGeom>
        </p:spPr>
        <p:txBody>
          <a:bodyPr anchorCtr="0" anchor="b" bIns="0" lIns="228600" spcFirstLastPara="1" rIns="228600" wrap="square" tIns="2286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Pediatría</a:t>
            </a:r>
            <a:endParaRPr/>
          </a:p>
        </p:txBody>
      </p:sp>
      <p:sp>
        <p:nvSpPr>
          <p:cNvPr id="685" name="Google Shape;685;p32"/>
          <p:cNvSpPr txBox="1"/>
          <p:nvPr>
            <p:ph idx="1" type="body"/>
          </p:nvPr>
        </p:nvSpPr>
        <p:spPr>
          <a:xfrm>
            <a:off x="3344215" y="3846851"/>
            <a:ext cx="5490300" cy="1383900"/>
          </a:xfrm>
          <a:prstGeom prst="rect">
            <a:avLst/>
          </a:prstGeom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Paedos = Niño    +     Iatrea = Tratamiento</a:t>
            </a:r>
            <a:endParaRPr sz="2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500" y="304800"/>
            <a:ext cx="10473699" cy="588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5" name="Google Shape;69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5822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675" y="152400"/>
            <a:ext cx="10715625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5822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5822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5822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Google Shape;72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5822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5822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Google Shape;73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5822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5822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5822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5" name="Google Shape;74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5822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tlas">
  <a:themeElements>
    <a:clrScheme name="Atlas">
      <a:dk1>
        <a:srgbClr val="000000"/>
      </a:dk1>
      <a:lt1>
        <a:srgbClr val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tlas">
  <a:themeElements>
    <a:clrScheme name="Atlas">
      <a:dk1>
        <a:srgbClr val="000000"/>
      </a:dk1>
      <a:lt1>
        <a:srgbClr val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